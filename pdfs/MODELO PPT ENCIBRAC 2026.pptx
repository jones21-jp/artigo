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2362E-100E-BFED-A8EC-E93872C92127}" v="372" dt="2026-10-13T22:35:30.411"/>
    <p1510:client id="{5CADE6D3-45EB-28BE-981A-1CB533F3B35F}" v="34" dt="2026-10-13T23:07:07.603"/>
    <p1510:client id="{6AD81D28-96D1-EC23-0D6B-A35B673A0029}" v="921" dt="2026-10-13T15:59:39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1510/infa.v23i1.2441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7.xml"/><Relationship Id="rId5" Type="http://schemas.openxmlformats.org/officeDocument/2006/relationships/image" Target="../media/image4.png"/><Relationship Id="rId4" Type="http://schemas.openxmlformats.org/officeDocument/2006/relationships/hyperlink" Target="https://revistas.anchieta.br/index.php/RevistaUbiquidade/article/view/2263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>
                <a:solidFill>
                  <a:srgbClr val="153553"/>
                </a:solidFill>
                <a:latin typeface="Verdana"/>
                <a:ea typeface="ＭＳ Ｐゴシック"/>
              </a:rPr>
              <a:t>TI VERDE</a:t>
            </a:r>
            <a:endParaRPr lang="en-US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/>
                <a:ea typeface="ＭＳ Ｐゴシック"/>
              </a:rPr>
              <a:t>Profa. Isabella Luiza dos Santos Souza</a:t>
            </a:r>
            <a:endParaRPr lang="en-US"/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r>
              <a:rPr lang="pt-BR" sz="1200">
                <a:solidFill>
                  <a:srgbClr val="153553"/>
                </a:solidFill>
                <a:latin typeface="Verdana"/>
                <a:ea typeface="Verdana"/>
                <a:cs typeface="Calibri"/>
              </a:rPr>
              <a:t>Daniel Barreto Cavalcante,</a:t>
            </a:r>
            <a:endParaRPr lang="pt-BR" sz="1200">
              <a:solidFill>
                <a:srgbClr val="000000"/>
              </a:solidFill>
              <a:latin typeface="Verdana"/>
              <a:ea typeface="Verdana"/>
              <a:cs typeface="Calibri"/>
            </a:endParaRPr>
          </a:p>
          <a:p>
            <a:endParaRPr lang="pt-BR" sz="1200" dirty="0">
              <a:solidFill>
                <a:srgbClr val="153553"/>
              </a:solidFill>
              <a:latin typeface="Verdana"/>
              <a:ea typeface="Verdana"/>
              <a:cs typeface="Calibri"/>
            </a:endParaRPr>
          </a:p>
          <a:p>
            <a:endParaRPr lang="pt-BR" sz="1200" dirty="0">
              <a:solidFill>
                <a:srgbClr val="153553"/>
              </a:solidFill>
              <a:latin typeface="Verdana"/>
              <a:ea typeface="Verdana"/>
              <a:cs typeface="Calibri"/>
            </a:endParaRPr>
          </a:p>
          <a:p>
            <a:r>
              <a:rPr lang="pt-BR" sz="1200">
                <a:solidFill>
                  <a:srgbClr val="153553"/>
                </a:solidFill>
                <a:latin typeface="Verdana"/>
                <a:ea typeface="Verdana"/>
                <a:cs typeface="Calibri"/>
              </a:rPr>
              <a:t>Gustavo Cavalcante dos Santos,</a:t>
            </a:r>
            <a:endParaRPr lang="pt-BR"/>
          </a:p>
          <a:p>
            <a:endParaRPr lang="pt-BR" sz="1200" dirty="0">
              <a:solidFill>
                <a:srgbClr val="153553"/>
              </a:solidFill>
              <a:latin typeface="Verdana"/>
              <a:ea typeface="Verdana"/>
              <a:cs typeface="Calibri"/>
            </a:endParaRPr>
          </a:p>
          <a:p>
            <a:pPr>
              <a:spcBef>
                <a:spcPct val="50000"/>
              </a:spcBef>
            </a:pPr>
            <a:r>
              <a:rPr lang="pt-BR" altLang="pt-BR" sz="1200">
                <a:solidFill>
                  <a:srgbClr val="153553"/>
                </a:solidFill>
                <a:latin typeface="Verdana"/>
                <a:ea typeface="ＭＳ Ｐゴシック"/>
                <a:cs typeface="Calibri"/>
              </a:rPr>
              <a:t>Jhonatas Henrique Fernandes Fonseca,</a:t>
            </a:r>
            <a:endParaRPr lang="pt-BR">
              <a:ea typeface="Calibri"/>
              <a:cs typeface="Calibri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/>
              <a:ea typeface="ＭＳ Ｐゴシック"/>
              <a:cs typeface="Calibri"/>
            </a:endParaRPr>
          </a:p>
          <a:p>
            <a:pPr>
              <a:spcBef>
                <a:spcPct val="50000"/>
              </a:spcBef>
            </a:pPr>
            <a:r>
              <a:rPr lang="pt-BR" altLang="pt-BR" sz="1200">
                <a:solidFill>
                  <a:srgbClr val="153553"/>
                </a:solidFill>
                <a:latin typeface="Verdana"/>
                <a:ea typeface="ＭＳ Ｐゴシック"/>
                <a:cs typeface="Calibri"/>
              </a:rPr>
              <a:t>João Pedro Cavalcante Pereira</a:t>
            </a:r>
            <a:endParaRPr lang="pt-BR"/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/>
              <a:ea typeface="ＭＳ Ｐゴシック"/>
              <a:cs typeface="Calibri"/>
            </a:endParaRPr>
          </a:p>
          <a:p>
            <a:pPr>
              <a:spcBef>
                <a:spcPct val="50000"/>
              </a:spcBef>
            </a:pPr>
            <a:br>
              <a:rPr lang="pt-BR" altLang="pt-BR" sz="1200" dirty="0">
                <a:solidFill>
                  <a:srgbClr val="153553"/>
                </a:solidFill>
                <a:latin typeface="Verdana"/>
                <a:ea typeface="ＭＳ Ｐゴシック"/>
                <a:cs typeface="Calibri"/>
              </a:rPr>
            </a:br>
            <a:endParaRPr lang="pt-BR" altLang="pt-BR" sz="1200">
              <a:solidFill>
                <a:srgbClr val="153553"/>
              </a:solidFill>
              <a:latin typeface="Verdana"/>
              <a:ea typeface="ＭＳ Ｐゴシック"/>
              <a:cs typeface="Calibri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>
                <a:solidFill>
                  <a:schemeClr val="bg1"/>
                </a:solidFill>
                <a:latin typeface="Verdana"/>
                <a:ea typeface="ＭＳ Ｐゴシック"/>
              </a:rPr>
              <a:t>Ciências</a:t>
            </a:r>
            <a:r>
              <a:rPr lang="pt-BR" altLang="pt-BR" sz="1400" b="1" dirty="0">
                <a:solidFill>
                  <a:schemeClr val="bg1"/>
                </a:solidFill>
                <a:latin typeface="Verdana"/>
                <a:ea typeface="ＭＳ Ｐゴシック"/>
              </a:rPr>
              <a:t> da Computação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ＭＳ Ｐゴシック"/>
              </a:rPr>
              <a:t>REDUÇÃO DOS IMPACTOS AMBIENTAIS;</a:t>
            </a:r>
          </a:p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ＭＳ Ｐゴシック"/>
              </a:rPr>
              <a:t>EFICIÊNCIA ENERGÉTICA;</a:t>
            </a:r>
          </a:p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ＭＳ Ｐゴシック"/>
              </a:rPr>
              <a:t>DEPEDÊNCIA EM NUVEM E IA.</a:t>
            </a:r>
            <a:endParaRPr lang="pt-BR" sz="1000" b="1" dirty="0">
              <a:solidFill>
                <a:srgbClr val="FF0000"/>
              </a:solidFill>
              <a:latin typeface="Verdana"/>
              <a:ea typeface="ＭＳ Ｐゴシック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249060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>
                <a:solidFill>
                  <a:srgbClr val="153553"/>
                </a:solidFill>
                <a:latin typeface="Verdana"/>
                <a:ea typeface="ＭＳ Ｐゴシック"/>
              </a:rPr>
              <a:t>2026.10</a:t>
            </a:r>
            <a:endParaRPr lang="pt-BR" altLang="pt-BR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>
                <a:latin typeface="Verdana"/>
                <a:ea typeface="Verdana"/>
              </a:rPr>
              <a:t>PROBLEMÁTICA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t-BR" sz="1400" dirty="0">
                <a:latin typeface="Verdana"/>
                <a:ea typeface="Verdana"/>
              </a:rPr>
              <a:t>• Crescimento do consumo energético em AI </a:t>
            </a:r>
            <a:r>
              <a:rPr lang="pt-BR" sz="1400" dirty="0" err="1">
                <a:latin typeface="Verdana"/>
                <a:ea typeface="Verdana"/>
              </a:rPr>
              <a:t>Factories</a:t>
            </a:r>
            <a:r>
              <a:rPr lang="pt-BR" sz="1400" dirty="0">
                <a:latin typeface="Verdana"/>
                <a:ea typeface="Verdana"/>
              </a:rPr>
              <a:t> e Data Centers.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/>
                <a:ea typeface="Verdana"/>
              </a:rPr>
              <a:t>• Expansão da Inteligência </a:t>
            </a:r>
            <a:r>
              <a:rPr lang="pt-BR" sz="1400" dirty="0" err="1">
                <a:latin typeface="Verdana"/>
                <a:ea typeface="Verdana"/>
              </a:rPr>
              <a:t>Artifical</a:t>
            </a:r>
            <a:r>
              <a:rPr lang="pt-BR" sz="1400" dirty="0">
                <a:latin typeface="Verdana"/>
                <a:ea typeface="Verdana"/>
              </a:rPr>
              <a:t> e da Nuvem.</a:t>
            </a:r>
          </a:p>
          <a:p>
            <a:pPr>
              <a:buNone/>
            </a:pPr>
            <a:r>
              <a:rPr lang="pt-BR" sz="1400">
                <a:latin typeface="Verdana"/>
                <a:ea typeface="Verdana"/>
              </a:rPr>
              <a:t>• Impactos ambientais gerados pela estrutura.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/>
              <a:ea typeface="Verdana"/>
            </a:endParaRP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JUSTIFICATIVA</a:t>
            </a:r>
            <a:endParaRPr lang="pt-BR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• Necessidade de reduzir impactos ambientais das tecnologias.</a:t>
            </a: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• Importância da eficiência energética para sustentabilidade.</a:t>
            </a: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• Dependência da sociedade em nuvem e IA.</a:t>
            </a:r>
            <a:endParaRPr lang="pt-BR" sz="1400" dirty="0">
              <a:latin typeface="Verdana"/>
              <a:ea typeface="Verdana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>
                <a:latin typeface="Verdana"/>
                <a:ea typeface="Verdana"/>
              </a:rPr>
              <a:t>OBJETIVO GERAL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t-BR" sz="1400" dirty="0">
                <a:latin typeface="Verdana"/>
                <a:ea typeface="Verdana"/>
              </a:rPr>
              <a:t>• Analisar os impactos da TI Verde em Data Centers e AI </a:t>
            </a:r>
            <a:r>
              <a:rPr lang="pt-BR" sz="1400" dirty="0" err="1">
                <a:latin typeface="Verdana"/>
                <a:ea typeface="Verdana"/>
              </a:rPr>
              <a:t>Factories</a:t>
            </a:r>
            <a:r>
              <a:rPr lang="pt-BR" sz="1400" dirty="0">
                <a:latin typeface="Verdana"/>
                <a:ea typeface="Verdana"/>
              </a:rPr>
              <a:t>.</a:t>
            </a:r>
            <a:endParaRPr lang="pt-BR" sz="1400" dirty="0" err="1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OBJETIVOS ESPECÍFICOS</a:t>
            </a:r>
            <a:endParaRPr lang="pt-BR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• Identificar impactos ambientais e energéticos dos data centers.</a:t>
            </a:r>
            <a:endParaRPr lang="pt-BR" sz="1400">
              <a:latin typeface="Verdana"/>
              <a:ea typeface="Verdana"/>
              <a:cs typeface="Calibri"/>
            </a:endParaRP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• Compreender práticas de TI Verde aplicadas ao setor.</a:t>
            </a:r>
            <a:endParaRPr lang="pt-BR" sz="1400">
              <a:latin typeface="Verdana"/>
              <a:ea typeface="Verdana"/>
              <a:cs typeface="Calibri"/>
            </a:endParaRP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• Comparar contribuições da computação em nuvem e da IA para o consumo energético.</a:t>
            </a:r>
            <a:endParaRPr lang="pt-BR" sz="1400">
              <a:latin typeface="Verdana"/>
              <a:ea typeface="Verdana"/>
              <a:cs typeface="Calibri"/>
            </a:endParaRPr>
          </a:p>
          <a:p>
            <a:pPr>
              <a:buNone/>
            </a:pPr>
            <a:r>
              <a:rPr lang="pt-BR" sz="1400">
                <a:latin typeface="Verdana"/>
                <a:ea typeface="Verdana"/>
                <a:cs typeface="Segoe UI"/>
              </a:rPr>
              <a:t>• Apontar desafios e oportunidades para maior sustentabilidade.</a:t>
            </a:r>
            <a:endParaRPr lang="pt-BR" sz="1400">
              <a:latin typeface="Verdana"/>
              <a:ea typeface="Verdana"/>
              <a:cs typeface="Calibri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TI Verde e sustentabilidade </a:t>
            </a:r>
            <a:r>
              <a:rPr lang="pt-BR" sz="1400">
                <a:latin typeface="Verdana"/>
                <a:ea typeface="Verdana"/>
              </a:rPr>
              <a:t>tecnológica </a:t>
            </a:r>
            <a:endParaRPr lang="pt-BR"/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Redução de consumo </a:t>
            </a:r>
            <a:r>
              <a:rPr lang="pt-BR" sz="1400">
                <a:latin typeface="Verdana"/>
                <a:ea typeface="Verdana"/>
              </a:rPr>
              <a:t>energético</a:t>
            </a:r>
            <a:r>
              <a:rPr lang="pt-BR" sz="1400" dirty="0">
                <a:latin typeface="Verdana"/>
                <a:ea typeface="Verdana"/>
              </a:rPr>
              <a:t> em ambientes computacionais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>
                <a:latin typeface="Verdana"/>
                <a:ea typeface="Verdana"/>
              </a:rPr>
              <a:t>Importância da sustentabilidade dos recursos naturais </a:t>
            </a:r>
            <a:r>
              <a:rPr lang="pt-BR" sz="1400" dirty="0">
                <a:latin typeface="Verdana"/>
                <a:ea typeface="Verdana"/>
              </a:rPr>
              <a:t>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  <a:cs typeface="Segoe UI"/>
              </a:rPr>
              <a:t>Crescimento energético dos Data Centers e AI </a:t>
            </a:r>
            <a:r>
              <a:rPr lang="pt-BR" sz="1400" dirty="0" err="1">
                <a:latin typeface="Verdana"/>
                <a:ea typeface="Verdana"/>
                <a:cs typeface="Segoe UI"/>
              </a:rPr>
              <a:t>Factories</a:t>
            </a:r>
            <a:r>
              <a:rPr lang="pt-BR" sz="1400" dirty="0">
                <a:latin typeface="Verdana"/>
                <a:ea typeface="Verdana"/>
                <a:cs typeface="Segoe UI"/>
              </a:rPr>
              <a:t>.</a:t>
            </a:r>
            <a:endParaRPr lang="pt-BR" sz="1400" dirty="0">
              <a:latin typeface="Verdana"/>
              <a:ea typeface="Verdana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  <a:cs typeface="Segoe UI"/>
              </a:rPr>
              <a:t>Estudo de Benfica et al. Sobre riscos da </a:t>
            </a:r>
            <a:r>
              <a:rPr lang="pt-BR" sz="1400">
                <a:latin typeface="Verdana"/>
                <a:ea typeface="Verdana"/>
                <a:cs typeface="Segoe UI"/>
              </a:rPr>
              <a:t>escassez energética.</a:t>
            </a: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  <a:cs typeface="Segoe UI"/>
              </a:rPr>
              <a:t>Estudos de </a:t>
            </a:r>
            <a:r>
              <a:rPr lang="pt-BR" sz="1400" err="1">
                <a:latin typeface="Verdana"/>
                <a:ea typeface="Verdana"/>
                <a:cs typeface="Segoe UI"/>
              </a:rPr>
              <a:t>Curtolo</a:t>
            </a:r>
            <a:r>
              <a:rPr lang="pt-BR" sz="1400">
                <a:latin typeface="Verdana"/>
                <a:ea typeface="Verdana"/>
                <a:cs typeface="Segoe UI"/>
              </a:rPr>
              <a:t> e Peixoto sobre computação em nuvem.</a:t>
            </a: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>
                <a:latin typeface="Verdana"/>
                <a:ea typeface="Verdana"/>
                <a:cs typeface="Segoe UI"/>
              </a:rPr>
              <a:t>Necessidades de pesquisas voltadas à realidade Brasileira.</a:t>
            </a: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>
                <a:latin typeface="Verdana"/>
                <a:ea typeface="Verdana"/>
                <a:cs typeface="Segoe UI"/>
              </a:rPr>
              <a:t>TI Verde contribui para redução do consumo de energia.</a:t>
            </a:r>
            <a:endParaRPr lang="pt-BR" sz="1400" dirty="0">
              <a:latin typeface="Verdana"/>
              <a:ea typeface="Verdana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  <a:cs typeface="Segoe UI"/>
              </a:rPr>
              <a:t>Uso de fontes </a:t>
            </a:r>
            <a:r>
              <a:rPr lang="pt-BR" sz="1400">
                <a:latin typeface="Verdana"/>
                <a:ea typeface="Verdana"/>
                <a:cs typeface="Segoe UI"/>
              </a:rPr>
              <a:t>renováveis e aproveitamento de recursos.</a:t>
            </a: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>
                <a:latin typeface="Verdana"/>
                <a:ea typeface="Verdana"/>
                <a:cs typeface="Segoe UI"/>
              </a:rPr>
              <a:t>Benefícios ambientais para Data Centers.</a:t>
            </a: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  <a:cs typeface="Segoe UI"/>
              </a:rPr>
              <a:t>Proposta de novos estudos comparando Cloud e AI </a:t>
            </a:r>
            <a:r>
              <a:rPr lang="pt-BR" sz="1400" dirty="0" err="1">
                <a:latin typeface="Verdana"/>
                <a:ea typeface="Verdana"/>
                <a:cs typeface="Segoe UI"/>
              </a:rPr>
              <a:t>Factories</a:t>
            </a:r>
            <a:r>
              <a:rPr lang="pt-BR" sz="1400" dirty="0">
                <a:latin typeface="Verdana"/>
                <a:ea typeface="Verdana"/>
                <a:cs typeface="Segoe UI"/>
              </a:rPr>
              <a:t> .</a:t>
            </a: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400">
                <a:latin typeface="Verdana"/>
                <a:ea typeface="Verdana"/>
                <a:cs typeface="Calibri"/>
              </a:rPr>
              <a:t>BENFICA, Luan Gabriel; SOUSA, Kawan Melo Saraiva Sabino de; SANTOS, Rickelmi Henrique Ferreira dos; NEVES, João Emmanuel D'Alkmin. Data centers de IA: a escassez energética e o risco emergente na segurança da informação. </a:t>
            </a:r>
            <a:r>
              <a:rPr lang="pt-BR" sz="1400" i="1">
                <a:latin typeface="Verdana"/>
                <a:ea typeface="Verdana"/>
                <a:cs typeface="Calibri"/>
              </a:rPr>
              <a:t>Interface Tecnológica</a:t>
            </a:r>
            <a:r>
              <a:rPr lang="pt-BR" sz="1400">
                <a:latin typeface="Verdana"/>
                <a:ea typeface="Verdana"/>
                <a:cs typeface="Calibri"/>
              </a:rPr>
              <a:t>, Taquaritinga, SP, v. 23, n. 1, p. 59-68, 2026. DOI: </a:t>
            </a:r>
            <a:r>
              <a:rPr lang="pt-BR" sz="1400" dirty="0">
                <a:latin typeface="Verdana"/>
                <a:ea typeface="Verdana"/>
                <a:cs typeface="Calibri"/>
                <a:hlinkClick r:id="rId3"/>
              </a:rPr>
              <a:t>https://doi.org/10.31510/infa.v23i1.2441</a:t>
            </a:r>
            <a:r>
              <a:rPr lang="pt-BR" sz="1400" dirty="0">
                <a:latin typeface="Verdana"/>
                <a:ea typeface="Verdana"/>
                <a:cs typeface="Calibri"/>
              </a:rPr>
              <a:t>.</a:t>
            </a:r>
            <a:endParaRPr lang="en-US" sz="1400">
              <a:latin typeface="Verdana"/>
              <a:ea typeface="Verdana"/>
              <a:cs typeface="Calibri"/>
            </a:endParaRPr>
          </a:p>
          <a:p>
            <a:pPr algn="just">
              <a:buNone/>
            </a:pPr>
            <a:endParaRPr lang="pt-BR" sz="1400" dirty="0">
              <a:latin typeface="Verdana"/>
              <a:ea typeface="Verdana"/>
              <a:cs typeface="Calibri"/>
            </a:endParaRPr>
          </a:p>
          <a:p>
            <a:pPr algn="just">
              <a:buNone/>
            </a:pPr>
            <a:r>
              <a:rPr lang="pt-BR" sz="1400" dirty="0">
                <a:latin typeface="Verdana"/>
                <a:ea typeface="Verdana"/>
                <a:cs typeface="Calibri"/>
              </a:rPr>
              <a:t>CURTOLO, Vitor André; PEIXOTO, Cecilia </a:t>
            </a:r>
            <a:r>
              <a:rPr lang="pt-BR" sz="1400" dirty="0" err="1">
                <a:latin typeface="Verdana"/>
                <a:ea typeface="Verdana"/>
                <a:cs typeface="Calibri"/>
              </a:rPr>
              <a:t>Sosa</a:t>
            </a:r>
            <a:r>
              <a:rPr lang="pt-BR" sz="1400" dirty="0">
                <a:latin typeface="Verdana"/>
                <a:ea typeface="Verdana"/>
                <a:cs typeface="Calibri"/>
              </a:rPr>
              <a:t> Arias. Utilização da computação em nuvem e sua contribuição na redução do efeito estufa e combate ao aquecimento global. </a:t>
            </a:r>
            <a:r>
              <a:rPr lang="pt-BR" sz="1400" i="1" dirty="0">
                <a:latin typeface="Verdana"/>
                <a:ea typeface="Verdana"/>
                <a:cs typeface="Calibri"/>
              </a:rPr>
              <a:t>Revista de Ubiquidade</a:t>
            </a:r>
            <a:r>
              <a:rPr lang="pt-BR" sz="1400" dirty="0">
                <a:latin typeface="Verdana"/>
                <a:ea typeface="Verdana"/>
                <a:cs typeface="Calibri"/>
              </a:rPr>
              <a:t>, v. 8, n. 1, p. 66-92, 2025. Disponível em: </a:t>
            </a:r>
            <a:r>
              <a:rPr lang="pt-BR" sz="1400" dirty="0">
                <a:latin typeface="Verdana"/>
                <a:ea typeface="Verdana"/>
                <a:cs typeface="Calibri"/>
                <a:hlinkClick r:id="rId4"/>
              </a:rPr>
              <a:t>https://revistas.anchieta.br/index.php/RevistaUbiquidade/article/view/2263</a:t>
            </a:r>
            <a:r>
              <a:rPr lang="pt-BR" sz="1400" dirty="0">
                <a:latin typeface="Verdana"/>
                <a:ea typeface="Verdana"/>
                <a:cs typeface="Calibri"/>
              </a:rPr>
              <a:t>. Acesso em: 5 out. 2026.</a:t>
            </a:r>
          </a:p>
          <a:p>
            <a:pPr algn="just">
              <a:buNone/>
            </a:pPr>
            <a:endParaRPr lang="pt-BR" altLang="pt-BR" sz="1400" dirty="0">
              <a:latin typeface="Verdana"/>
              <a:ea typeface="Verdana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/>
              <a:ea typeface="Verdana"/>
              <a:cs typeface="Segoe UI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  <a:cs typeface="Segoe UI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/>
              <a:ea typeface="Verdana"/>
              <a:cs typeface="Segoe UI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370" y="2026040"/>
            <a:ext cx="9221636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O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avanço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tecnológico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deve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caminhar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lado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a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lado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com a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responsabilidade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ambiental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garantindo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um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futuro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mais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sustentável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para as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próximas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gerações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.</a:t>
            </a:r>
            <a:endParaRPr lang="pt-BR" altLang="pt-BR" sz="3200" dirty="0">
              <a:solidFill>
                <a:schemeClr val="bg1"/>
              </a:solidFill>
              <a:latin typeface="Verdana"/>
              <a:ea typeface="Verdana"/>
            </a:endParaRPr>
          </a:p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 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Obrigado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 pela </a:t>
            </a:r>
            <a:r>
              <a:rPr lang="en-US" sz="3200" dirty="0" err="1">
                <a:solidFill>
                  <a:schemeClr val="bg1"/>
                </a:solidFill>
                <a:latin typeface="Verdana"/>
                <a:ea typeface="Verdana"/>
              </a:rPr>
              <a:t>atenção</a:t>
            </a:r>
            <a:r>
              <a:rPr lang="en-US" sz="3200" dirty="0">
                <a:solidFill>
                  <a:schemeClr val="bg1"/>
                </a:solidFill>
                <a:latin typeface="Verdana"/>
                <a:ea typeface="Verdana"/>
              </a:rPr>
              <a:t>!</a:t>
            </a:r>
            <a:endParaRPr lang="pt-BR" altLang="pt-BR" sz="3200">
              <a:solidFill>
                <a:schemeClr val="bg1"/>
              </a:solidFill>
              <a:latin typeface="Verdana"/>
              <a:ea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202</cp:revision>
  <dcterms:created xsi:type="dcterms:W3CDTF">2021-05-14T17:32:15Z</dcterms:created>
  <dcterms:modified xsi:type="dcterms:W3CDTF">2026-10-13T23:09:28Z</dcterms:modified>
</cp:coreProperties>
</file>